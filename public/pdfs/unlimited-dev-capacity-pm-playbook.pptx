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EAM">
    <p:bg>
      <p:bgPr>
        <a:solidFill>
          <a:srgbClr val="F7F3ED"/>
        </a:solidFill>
      </p:bgPr>
    </p:bg>
    <p:spTree>
      <p:nvGrpSpPr>
        <p:cNvPr id="1" name=""/>
        <p:cNvGrpSpPr/>
        <p:nvPr/>
      </p:nvGrpSpPr>
      <p:grpSpPr>
        <a:xfrm>
          <a:off x="0" y="0"/>
          <a:ext cx="0" cy="0"/>
          <a:chOff x="0" y="0"/>
          <a:chExt cx="0" cy="0"/>
        </a:xfrm>
      </p:grpSpPr>
      <p:sp>
        <p:nvSpPr>
          <p:cNvPr id="2" name="Text 0"/>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999999"/>
                </a:solidFill>
                <a:latin typeface="Arial" pitchFamily="34" charset="0"/>
                <a:ea typeface="Arial" pitchFamily="34" charset="-122"/>
                <a:cs typeface="Arial" pitchFamily="34" charset="-120"/>
              </a:rPr>
              <a:t>Leverage Strategies  |  The PM’s New Job 2026</a:t>
            </a: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0F2B"/>
        </a:solidFill>
      </p:bgPr>
    </p:bg>
    <p:spTree>
      <p:nvGrpSpPr>
        <p:cNvPr id="1" name=""/>
        <p:cNvGrpSpPr/>
        <p:nvPr/>
      </p:nvGrpSpPr>
      <p:grpSpPr>
        <a:xfrm>
          <a:off x="0" y="0"/>
          <a:ext cx="0" cy="0"/>
          <a:chOff x="0" y="0"/>
          <a:chExt cx="0" cy="0"/>
        </a:xfrm>
      </p:grpSpPr>
      <p:sp>
        <p:nvSpPr>
          <p:cNvPr id="2" name="Text 0"/>
          <p:cNvSpPr/>
          <p:nvPr/>
        </p:nvSpPr>
        <p:spPr>
          <a:xfrm>
            <a:off x="457200" y="4800600"/>
            <a:ext cx="8229600" cy="274320"/>
          </a:xfrm>
          <a:prstGeom prst="rect">
            <a:avLst/>
          </a:prstGeom>
          <a:noFill/>
          <a:ln/>
        </p:spPr>
        <p:txBody>
          <a:bodyPr wrap="square" rtlCol="0" anchor="ctr"/>
          <a:lstStyle/>
          <a:p>
            <a:pPr indent="0" marL="0">
              <a:buNone/>
            </a:pPr>
            <a:r>
              <a:rPr lang="en-US" sz="800" dirty="0">
                <a:solidFill>
                  <a:srgbClr val="4A5B6C"/>
                </a:solidFill>
                <a:latin typeface="Arial" pitchFamily="34" charset="0"/>
                <a:ea typeface="Arial" pitchFamily="34" charset="-122"/>
                <a:cs typeface="Arial" pitchFamily="34" charset="-120"/>
              </a:rPr>
              <a:t>Leverage Strategies  |  The PM’s New Job 2026</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to "/>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to "/>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548640"/>
            <a:ext cx="7680960" cy="2240280"/>
          </a:xfrm>
          <a:prstGeom prst="rect">
            <a:avLst/>
          </a:prstGeom>
          <a:noFill/>
          <a:ln/>
        </p:spPr>
        <p:txBody>
          <a:bodyPr wrap="square" rtlCol="0" anchor="ctr"/>
          <a:lstStyle/>
          <a:p>
            <a:pPr indent="0" marL="0">
              <a:lnSpc>
                <a:spcPct val="110000"/>
              </a:lnSpc>
              <a:buNone/>
            </a:pPr>
            <a:r>
              <a:rPr sz="4800" i="1">
                <a:solidFill>
                  <a:srgbClr val="FFFFFF"/>
                </a:solidFill>
                <a:latin typeface="Georgia"/>
              </a:rPr>
              <a:t>Unlimited Dev Capacity.
The PM's Job in 2026.</a:t>
            </a:r>
            <a:endParaRPr lang="en-US" sz="3600" dirty="0"/>
          </a:p>
        </p:txBody>
      </p:sp>
      <p:sp>
        <p:nvSpPr>
          <p:cNvPr id="3" name="Shape 1"/>
          <p:cNvSpPr/>
          <p:nvPr/>
        </p:nvSpPr>
        <p:spPr>
          <a:xfrm>
            <a:off x="731520" y="2880360"/>
            <a:ext cx="7680960" cy="9144"/>
          </a:xfrm>
          <a:prstGeom prst="rect">
            <a:avLst/>
          </a:prstGeom>
          <a:solidFill>
            <a:srgbClr val="9B8EC4"/>
          </a:solidFill>
          <a:ln/>
        </p:spPr>
        <p:txBody>
          <a:bodyPr/>
          <a:p/>
        </p:txBody>
      </p:sp>
      <p:sp>
        <p:nvSpPr>
          <p:cNvPr id="4" name="Text 2"/>
          <p:cNvSpPr/>
          <p:nvPr/>
        </p:nvSpPr>
        <p:spPr>
          <a:xfrm>
            <a:off x="731520" y="3063240"/>
            <a:ext cx="7315200" cy="4572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The PM's New Job  |  A Practitioner Guide for Product Leaders</a:t>
            </a:r>
            <a:endParaRPr lang="en-US" sz="1300" dirty="0"/>
          </a:p>
        </p:txBody>
      </p:sp>
      <p:sp>
        <p:nvSpPr>
          <p:cNvPr id="5" name="Text 3"/>
          <p:cNvSpPr/>
          <p:nvPr/>
        </p:nvSpPr>
        <p:spPr>
          <a:xfrm>
            <a:off x="731520" y="3566160"/>
            <a:ext cx="7315200" cy="365760"/>
          </a:xfrm>
          <a:prstGeom prst="rect">
            <a:avLst/>
          </a:prstGeom>
          <a:noFill/>
          <a:ln/>
        </p:spPr>
        <p:txBody>
          <a:bodyPr wrap="square" rtlCol="0" anchor="ctr"/>
          <a:lstStyle/>
          <a:p>
            <a:pPr indent="0" marL="0">
              <a:buNone/>
            </a:pPr>
            <a:r>
              <a:rPr lang="en-US" sz="1100" dirty="0">
                <a:solidFill>
                  <a:srgbClr val="999999"/>
                </a:solidFill>
                <a:latin typeface="Arial" pitchFamily="34" charset="0"/>
                <a:ea typeface="Arial" pitchFamily="34" charset="-122"/>
                <a:cs typeface="Arial" pitchFamily="34" charset="-120"/>
              </a:rPr>
              <a:t>For Heads of Product, VPs, CPOs, and Senior PMs at B2B SaaS companies navigating the shift from capacity constraints to judgment constraints.</a:t>
            </a:r>
            <a:endParaRPr lang="en-US" sz="1100" dirty="0"/>
          </a:p>
        </p:txBody>
      </p:sp>
      <p:sp>
        <p:nvSpPr>
          <p:cNvPr id="6" name="Text 4"/>
          <p:cNvSpPr/>
          <p:nvPr/>
        </p:nvSpPr>
        <p:spPr>
          <a:xfrm>
            <a:off x="731520" y="3977640"/>
            <a:ext cx="6400800" cy="274320"/>
          </a:xfrm>
          <a:prstGeom prst="rect">
            <a:avLst/>
          </a:prstGeom>
          <a:noFill/>
          <a:ln/>
        </p:spPr>
        <p:txBody>
          <a:bodyPr wrap="square" rtlCol="0" anchor="ctr"/>
          <a:lstStyle/>
          <a:p>
            <a:pPr indent="0" marL="0">
              <a:buNone/>
            </a:pPr>
            <a:r>
              <a:rPr lang="en-US" sz="1100" dirty="0">
                <a:solidFill>
                  <a:srgbClr val="9B8EC4"/>
                </a:solidFill>
                <a:latin typeface="Arial" pitchFamily="34" charset="0"/>
                <a:ea typeface="Arial" pitchFamily="34" charset="-122"/>
                <a:cs typeface="Arial" pitchFamily="34" charset="-120"/>
              </a:rPr>
              <a:t>Leverage Strategies  |  2026  |  By Dan Albasry</a:t>
            </a:r>
            <a:endParaRPr lang="en-US" sz="1100" dirty="0"/>
          </a:p>
        </p:txBody>
      </p:sp>
      <p:sp>
        <p:nvSpPr>
          <p:cNvPr id="7" name="Shape 5"/>
          <p:cNvSpPr/>
          <p:nvPr/>
        </p:nvSpPr>
        <p:spPr>
          <a:xfrm>
            <a:off x="731520" y="4297680"/>
            <a:ext cx="7680960" cy="9144"/>
          </a:xfrm>
          <a:prstGeom prst="rect">
            <a:avLst/>
          </a:prstGeom>
          <a:solidFill>
            <a:srgbClr val="9B8EC4"/>
          </a:solidFill>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01</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Morning the Backlog</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Became Irrelevant</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Unlimited velocity, zero signal.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Monday Everything Changed.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walk into Monday standup and something is off. Three engineers shipped four features over the weekend. none of which were on the roadmap. Two of them conflict with promises your sales team made to enterprise accounts. One of them is genuinely brilliant and solves a problem customers have been screaming about for months. Your backlog board, the artifact you spent two days grooming last sprint, looks like a museum exhibit. Nobody is even looking at it.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Welcome to Product Management in 2026.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old constraint was capacity: we can only build X things this quarter, so we need to choose carefully. That constraint is gone. Developers on teams with high AI adoption are completing 21% more tasks and merging 98% more pull requests, according to Faros AI's landmark study of over 10,000 developers. Spotify's internal coding agent "Honk" merges 650 pull requests into production every month. Their best developers, by the company's own admission, haven't written a line of code since December. The capacity ceiling didn't just lift. it evaporated.</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But here's what nobody warned you about: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unlimited velocity creates a prioritization crisis, not a productivity win. When building is nearly free, everything gets built. And when everything gets built, nothing gets validated. Organizations already leave 40% of their SaaS apps wasted and unused. The average feature adoption rate across AI/ML companies is just 24.8%. You are not shipping value faster. You are shipping waste faster, and the waste is compounding.</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Faros AI (21% more tasks, 98% more PRs) [1]; Spotify (650 PRs/month) [2]; Zylo (40% SaaS waste) [3]; Pendo (24.8% adoption) [4]</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AI Productivity Paradox.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Developers on high-AI-adoption teams produce 21% more individual output, but none of that translates to measurable organizational outcomes. The bottleneck didn't disappear. It moved. from your engineers to you.</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Here's the part that stings: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feel it but can't name it. You're simultaneously more powerful and more replaceable than anyone in your product org has ever been. More powerful because the tools at your disposal can prototype, test, and ship in hours what used to take weeks. More replaceable because if your primary value was translating business needs into engineering tickets, an AI can now do that faster and without complaining about the formatting of your Jira stories. Code churn. code that gets written and then discarded within two weeks. has risen from 5.5% in 2020 to 7.9% in 2024. Your team is building more and keeping less.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Faros AI (productivity paradox) [1]; GitClear (code churn 5.5% to 7.9%) [5]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This Playbook Is About the New Job.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Not the job description on the careers page. the actual job. The one where your value isn't in what you greenlight, it's in what you kill. Where the hardest conversation isn't "how do we build this?" but "why did we build that?" Where the best PMs in your org aren't the ones with the most features shipped but the ones with the most features stopped.</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What Actually Changed. and What Didn't.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change is structural, not incremental. AI coding assistants didn't make your engineers 10% faster. They made certain categories of work effectively free. GitClear analyzed 150 million changed lines of code over four years and found a significant uptick in churn code alongside a concerning decrease in code reuse. both tied directly to AI assistant adoption. Your team is producing more code, but the code is more disposable, more duplicative, and harder to maintain.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GitClear (150M lines analyzed) [5]; Harness State of AI report [6]</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What Didn't Change Is What Matters.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Customers still can't articulate what they need. Stakeholders still have competing priorities. Enterprise contracts still have commitments you can't break. The market still punishes feature bloat. it contributes to roughly 40% of product abandonment. And your CEO still asks "why aren't we moving faster?" even though you've never moved faster in your life.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rest of this playbook gives you the frameworks, rituals, and hard conversations you need to operate in this new world. Not theory. Not "thought leadership." Specific things you can use Monday morning to make better decisions about what your team builds, what it kills, and how it knows the difference.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(40% abandonment from bloat) [4]; Leverage Strategies analysis, 2026</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Old PM World vs. The New PM World</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3840480"/>
                <a:gridCol w="38404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Old PM World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New PM World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Bottleneck: engineering capacity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Bottleneck: product judgment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Value: prioritizing the build queue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Value: deciding what NOT to build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Roadmap = what we’ll ship this quarter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Roadmap = bets we’re placing (with kill criteria)</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Sprint planning = resource allocation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Sprint planning = signal filtering</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Ship velocity = success metric</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Ship-to-adoption ratio = success metric</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“We can’t build that yet”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“We can build anything. should we?”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02</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Product Judgment Stack</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A diagnostic framework for the AI era.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Weekend Demo Problem.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VP of Engineering just showed you a demo. Her team built a working prototype of a feature that wasn't supposed to start until Q3. they did it in a weekend hackathon using Cursor and Claude. It looks great. The engineering team is excited. Your CEO saw it and asked when it's launching. And you're sitting there thinking: we haven't validated a single assumption behind this feature. We don't know if customers want it. We don't know if it conflicts with the enterprise roadmap. We just know we can build it.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This is the moment where product judgment either exists or it doesn't.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And right now, most product organizations don't have a system for it. They have opinions, they have stakeholders with loud voices, and they have roadmap tools that make everything look planned even when nothing is. McKinsey identified product management capabilities as among the top two drivers of business performance. but capabilities and systems are different things.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McKinsey (PM as top business driver) [7]; Leverage Strategies analysis, 2026</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1: Market Signal.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where you capture what customers, prospects, and the market are telling you. The AI failure mode: market signals are getting noisier, not clearer. AI-generated feedback, synthetic survey responses, and chatbot-mediated support tickets make it harder to distinguish genuine human intent from algorithmic noise.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2: Decision Architecture.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how your team decides what to build, what to kill, and what to delay. The AI failure mode: decisions get faster but shallower. When you can prototype in hours, the pressure to ship is enormous. Ravi Mehta, formerly at Tinder, Facebook, and Tripadvisor, compares this to driving a car at triple the speed: "More decisions, more bets, more calls will need to be made more frequently." The impact of every wrong turn is magnified.</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Ravi Mehta (speed analogy) [8]; Leverage Strategies analysis, 2026</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3: Build/Buy/Agent.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where your team decides whether to build a feature, buy a solution, or deploy an AI agent. This layer barely exists at most companies. The decision is usually "build it" because building just got cheap. That's like buying everything at a store because it's on sale.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Layer 4: Feedback Integrity.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how you know whether what you shipped actually worked. The AI failure mode: feedback loops get corrupted when AI is both creating and measuring the output. If your AI assistant auto-completes 40% of user workflows, your engagement metrics go up. but did the user get more value, or did they just stop paying attention?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McKinsey (88% AI adoption) [7]; Leverage Strategies analysis, 2026</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Using the Stack as a Diagnostic.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Score each layer from 1 (broken) to 5 (strong). Be honest. nobody sees this but your leadership team. A typical mid-market B2B product org in early 2026 scores a 3 on Market Signal (they have good customer conversations but haven't accounted for AI noise), a 2 on Decision Architecture (decisions happen fast but without kill criteria), a 1 on Build/Buy/Agent (nobody has a framework), and a 2 on Feedback Integrity (they're still using pre-AI metrics).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Small Teams Win on Judgment.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Reforge launched five AI products in nine months with just 25 people. That only worked because their judgment stack was strong at every layer. they knew what signals to trust, had explicit criteria for what to build versus buy, and measured outcomes rather than output. The lesson isn't "be like Reforge." The lesson is that small teams with strong judgment consistently outperform large teams with fast keyboards.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Reforge (5 products, 25 people) [9]; McKinsey (88% AI adoption) [7]</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03</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Your Roadmap Is a Lie</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(And AI Made It Worse)</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When building is free, saying yes is the real cost.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Quarterly Planning Trap.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know the meeting. It's Thursday afternoon, the quarterly planning session, and everyone is presenting their "must-haves" for next quarter. Engineering wants to rebuild the notification system. Sales needs a Salesforce integration by March or they'll lose the Acme deal. The CEO came back from a conference with three new ideas. And now, because your team can build roughly three times more than they could two years ago, the answer to nearly every request is "sure, we can probably do that."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So you do.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roadmap doubles in size. Every stakeholder gets something. Everyone leaves happy. until six months later when you've shipped 30 features and your NPS has dropped because none of them were finished well, half of them overlap, and your product feels like a cluttered house where someone kept buying furniture without ever measuring the rooms.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(40% abandonment from bloat) [4]; ChartMogul (82% median NRR) [10]</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Cost of Deciding.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In the old world, the cost of building a feature was the constraint that forced hard decisions. You couldn't build everything, so you had to choose. That friction was annoying but it was also useful. it was a built-in forcing function for prioritization. Now that build cost approaches zero, you need a new forcing function. That function is what we call the Cost of Deciding.</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Hidden Costs of Every Feature.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Every feature you ship has costs that have nothing to do with engineering hours. Maintenance burden: someone has to keep it working. Surface area expansion: more features mean more bugs, more support tickets, more documentation. Opportunity cost: every feature you built is a feature you didn't build. Cognitive load: every feature makes your product harder to learn. These costs don't show up in sprint velocity. They show up six months later in churn.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Klarna Cautionary Tale.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Klarna's AI agent was doing the work of 853 employees and saving $60 million. until it wasn't. CEO Sebastian Siemiatkowski reversed course and resumed human hiring after admitting "overemphasis on cost. not AI itself. led to lower quality." The roadmap said automate everything. Reality demanded judgment.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fix isn't a better roadmap tool. It's a different mental model. Stop treating your roadmap as a feature list and start treating it as a bet portfolio. Every item on the roadmap is a bet: you're betting engineering time, design attention, support capacity, and customer trust that this feature will produce a specific outcome. And like any portfolio, you need diversification, position sizing, and. critically. exit criteria.</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Klarna (853 employees, $60M) [11]; Leverage Strategies analysis, 2026</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Feature List Roadmap vs. Bet Portfolio Roadmap</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3840480"/>
                <a:gridCol w="38404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Feature List Roadmap</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Bet Portfolio Roadmap</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“We’ll build X this quarter”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“We’re betting that X will increase retention by 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Success = shipped on time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Success = bet paid off (metric moved)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No kill criteria</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Kill criteria defined before build starts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Stakeholder gets a “yes”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Stakeholder gets an expected outcome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Review: did we ship?</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Review: did it work?</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Items added easily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Items added with explicit tradeoff</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Shopify (Tobi Lütke AI-first memo) [12]; Leverage Strategies analysis, 2026</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Shopify's Judgment Policy.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Shopify CEO Tobi Lütke gets this. His company-wide memo in 2025 required teams to "demonstrate why they cannot get what they want done using AI" before requesting additional headcount. That's not an AI policy. that's a judgment policy. It forces the question: is this the best use of our finite decision-making capacity?</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Shopify (Lütke memo) [12]; Leverage Strategies analysis, 2026</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04</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Three PMs:</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Curator, Architect, Operator</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AI didn't kill the PM role. It fractured it.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Impossible Job Description.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Head of Product just posted a job description. It reads like a fever dream. They want someone who can run discovery interviews, write PRDs, define AI agent behavior, manage prompt governance, understand model drift, build product strategy, negotiate with engineering, present to the board, and. this is real. "have a passion for delighting customers." That's not a PM job. That's three jobs wearing a trench coat.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didn't kill the PM role. It fractured it. The skills that made you a great PM in 2022. deep user empathy, clear writing, stakeholder management. are still valuable. But they're now table stakes. The market is demanding three distinct competencies that used to be nice-to-haves, and most orgs are still cramming all three into one person's calendar.</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Curator.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Curator decides what gets built and, more importantly, what gets killed. This is the hardest of the three roles because it requires saying no to things that are easy to build. In a world where your team can prototype anything in a day, the Curator is the person who asks: "Should this exist?". not "Can we build this?" The Curator owns the bet portfolio, runs the kill reviews, and is the person who looks the CEO in the eye and says, "That conference idea is interesting, but it doesn't pass our criteria."</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Why Companies Pay for This.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role requires a rare combination of strategic clarity and political courage. It's the reason AI PM hiring doubled in 2025 with over 12,000 new roles at compensation packages of $286K to $569K. Companies aren't paying half a million dollars for someone to write user stories. They're paying for judgment.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LinkedIn/Revelio Labs (12,000 AI PM roles, $286K to $569K) [13]; Leverage Strategies analysis, 2026</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Architect.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Architect designs how AI and human systems interact within your product. This is the person who decides: should this workflow be deterministic or probabilistic? Where does the AI make the decision and where does the human? What happens when the model drifts? What are the fallback behaviors? The Architect doesn't just think about features. they think about the system's behavior under uncertainty.</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Irony of AI in PM.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Most PMs who were great at discovery and user interviews are now also expected to understand agent orchestration, prompt governance, and model drift. According to Lenny's Newsletter survey, PMs primarily use AI for "supporting work". writing, analysis, research. while engineers use AI for their core task of writing code. The irony is painful: PMs are using AI to do busywork faster instead of integrating AI into the product decisions that actually matter.</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Lenny's Newsletter (PM AI usage survey) [14]; Leverage Strategies analysis, 2026</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Operator.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Operator keeps the live product healthy when AI agents are part of the runtime. This is a role that barely existed two years ago. When your product includes AI that generates responses, makes recommendations, or automates workflows, someone needs to monitor output quality, catch drift, manage escalation paths, and respond when things go sideways. The Cursor AI incident of April 2025. where the company's own support bot fabricated a nonexistent usage policy, telling users their subscriptions were limited to one device. is what happens when nobody is operating.</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Market Has Decided.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AI/ML hiring grew 88% year-on-year in 2025, while entry-level PM hiring dropped 73.4%. The market is eliminating process-oriented roles and paying premium for judgment-oriented ones. The middle is hollowing out.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Cursor AI incident [15]; LinkedIn (88% AI/ML hiring growth, 73.4% entry PM decline) [13]</a:t>
            </a:r>
            <a:endParaRPr lang="en-US" sz="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Org Design: When to Split vs. Layer</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1645920"/>
                <a:gridCol w="2011680"/>
                <a:gridCol w="2011680"/>
                <a:gridCol w="20116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Org Size</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Curator</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Architect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Operator</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&lt; 50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Senior PM wears this hat explicitly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Engineering lead + PM collaborate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On-call rotation with clear runbook</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50 to 200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Dedicated Head of Product role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Product Manager (new hire)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Product Ops (new role)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200+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VP Product / CPO</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Product team (2 to 4 people)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Ops team with dedicated tooling</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Aha.io (role consolidation analysis) [16]; Leverage Strategies analysis, 2026</a:t>
            </a:r>
            <a:endParaRPr lang="en-US" sz="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Name the Roles. Staff Them. Stop Pretending.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question isn't whether you need all three competencies. You do. The question is whether you're going to name them explicitly or keep pretending one person can do everything. Aha.io's analysis of "The New Product Manager in the Era of Role Consolidation" documents how PM roles are being compressed and expanded simultaneously. That's a polite way of saying: the job is impossible as currently defined. Name the three roles. Staff them appropriately. Stop posting job descriptions that read like wish lists.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Aha.io (role consolidation) [16]; Leverage Strategies analysis, 2026</a:t>
            </a:r>
            <a:endParaRPr lang="en-US" sz="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05</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Metrics That Actually Work</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When AI Is in the Product</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Your dashboard is lying to you about product health.</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Dashboard Illusion.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You're looking at your product analytics dashboard and everything looks great. DAU is up 15%. Feature adoption is climbing. Time-in-app is at an all-time high. Your board deck practically writes itself. Then your head of Customer Success walks in and says: "We've got a renewal problem. Three enterprise accounts are pushing back. They say they're not getting value."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How is that possible when every metric says engagement is up? Because your AI assistant is doing the engaging. It's auto-completing workflows, generating summaries, nudging users to features they never asked for. Your metrics are counting AI activity and calling it human value. And you can't tell the difference because your measurement system was designed for a world where every click, every session, every feature touch was a human making a conscious choice.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Human Intent Signals: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Actions where a human made a conscious decision. They chose to open a feature, configure a setting, invite a teammate, or complete a workflow. These are your real engagement metrics. The question to ask: "Would this action have happened without AI in the product?"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Agent-Mediated Signals: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Actions where AI was involved but a human was still in the loop. Auto-complete suggestions the user accepted, AI-generated reports the user read and acted on, recommendations the user followed. These are valuable but noisy. you need to discount them based on acceptance rate and downstream action.</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Ghost Signals: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talking to AI. Your recommendation engine triggering your notification system triggering your engagement tracking triggering your retention algorithm. Nobody human was involved, but your dashboard counts it as activity. These are vanity metrics dressed up as engagement, and they'll mask churn until it's too late.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a16z State of Consumer AI (ChatGPT retention) [17]; Leverage Strategies analysis, 2026</a:t>
            </a:r>
            <a:endParaRPr lang="en-US" sz="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Metrics Swap</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2011680"/>
                <a:gridCol w="2834640"/>
                <a:gridCol w="283464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Old Metric</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Problem</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New Metric</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Daily Active Users (DAU)</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agents inflate “active” counts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Human Decision Points per session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Feature Adoption Rate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auto-activates features users didn’t choose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Intentional Feature Engagement (user-initiated only)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Time-to-Value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can deliver value in seconds. but is it the right value?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Time-to-Trust (when user relies on AI output without checking)</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Sessions per Week</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can generate sessions without human intent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Outcome Completion Rate (did the human get what they came for?)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NPS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Lagging, infrequent, gameable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Renewal Confidence Score (CS team’s honest assessment)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a16z (consumer AI retention) [17]; Bain (43% outcome-based pricing) [18]</a:t>
            </a:r>
            <a:endParaRPr lang="en-US" sz="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Pricing Signal Nobody Is Watching.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Native product gross margins run 50 to 65%, compared to traditional SaaS at 70 to 85%. When your cost structure is different and your engagement metrics are unreliable, pricing decisions based on old data are dangerous. Forty-three percent of enterprise buyers now consider outcome-based or risk-share pricing a significant factor in purchasing decisions. They're already adjusting for the world you haven't measured yet.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Bessemer (AI margins 50 to 65% vs SaaS 70 to 85%) [19]; Bain (43% outcome-based pricing) [18]</a:t>
            </a:r>
            <a:endParaRPr lang="en-US" sz="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06</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Discovery When Your Users</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Can't Tell You What They Want</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You can't extract what isn't there.</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End of Articulated Needs.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You're sitting across from a customer. a director of operations at a mid-market logistics company. and you ask the question you've asked a hundred times: "What's the biggest pain point in your workflow right now?" She pauses, thinks for a moment, and says: "I don't know. Everything kind of works, I guess. It's just. slow?" Two years ago, that answer would have been a dead end. Today it's the starting point, because the biggest opportunities in your product aren't problems your users can articulate. They're things your users don't know AI can do.</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Traditional discovery. interviews, surveys, Jobs-to-Be-Done frameworks. assumed that users could describe their problems and you could work backward to solutions. That assumption held when the solution space was constrained by what was technically feasible. Now the solution space is nearly infinite. Discovery has to get generative.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Teresa Torres (Continuous Discovery Habits) [20]; Leverage Strategies analysis, 2026</a:t>
            </a:r>
            <a:endParaRPr lang="en-US" sz="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Prototype Before You Ask Loop.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Instead of starting with "what do you need?", start with "let me show you three things" and watch which one makes them lean forward. This isn't a focus group. It's a stimulus-response test. Teresa Torres, whose Continuous Discovery Habits framework has become the standard for product teams, has been vocal about how AI changes discovery: rapid prototyping means you can test assumptions weekly instead of quarterly.</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Closed-Loop Trap.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But she's equally vocal about the trap. using AI to generate insights from AI-synthesized data, creating a closed loop with no actual human signal. If your discovery process doesn't include a human watching another human react to something, it's not discovery. It's confirmation.</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Teresa Torres (discovery + AI warning) [20]; Leverage Strategies analysis, 2026</a:t>
            </a:r>
            <a:endParaRPr lang="en-US" sz="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Monday: Build Three Prototypes.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Use AI to generate three distinct solutions to a customer problem you've identified from support tickets, sales calls, or usage data. They don't need to be polished. They need to be different enough that a user's reaction tells you something about their actual priorities.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Tuesday to Wednesday: Show, Don't Ask.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Put the prototypes in front of 5 to 8 users. Don't explain them. Don't sell them. Say: "We're exploring a few directions. I want to show you three approaches and get your honest reaction." Watch their faces. Note which one they ask questions about. Note which one they try to interact with. Note which one they ignore.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Thursday to Friday: Synthesize and Kill.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Synthesize what you learned in a room with humans. not in a Claude conversation. AI is excellent at organizing notes, terrible at reading the subtext of what a customer didn't say. The insight is usually in the reaction, not the words. Friday: you built three things. You're keeping one. That's the discipline. The week's value isn't the prototype you advanced. it's the two you killed before they became roadmap commitments.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07</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Build, Buy, or Deploy</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an Agent</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The new make/buy decision has a third option.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Agent Question.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team is planning the next quarter and someone says: "Why don't we just use an agent for that?" It's the 2026 version of "why don't we just buy a tool for that?". except the agent option didn't exist eighteen months ago and nobody in the room has a framework for when it's the right call. So you do what product teams always do when they don't have a framework: you go with whoever argues loudest.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classic build-versus-buy decision now has a third option that changes the math on everything. Configuring an AI agent to handle a capability is faster than building a feature and more customizable than buying a tool. But it comes with costs that are invisible at the decision point and brutal at scale. Agent maintenance runs 15 to 20% of initial build cost annually. In-house AI agent development costs $50K to $200K+ in labor alone, plus cloud inference and 5 to 10 million tokens per month in monitoring.</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Industry estimates (agent maintenance 15 to 20%) [21]; Leverage Strategies analysis, 2026</a:t>
            </a:r>
            <a:endParaRPr lang="en-US" sz="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Agent-Feature Spectrum</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1828800"/>
                <a:gridCol w="2926080"/>
                <a:gridCol w="2926080"/>
              </a:tblGrid>
              <a:tr h="0">
                <a:tc>
                  <a:txBody>
                    <a:bodyPr/>
                    <a:lstStyle/>
                    <a:p>
                      <a:pPr algn="ctr" indent="0" marL="0">
                        <a:buNone/>
                      </a:pP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Low Determinism Needed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High Determinism Needed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High Human Judgment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AI-assisted workflow (human decides, AI drafts)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Build a feature (predictable, auditable, human-controlled)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Low Human Judgment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Deploy an agent (AI decides, human monitors)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Buy a tool (commodity, deterministic, someone else maintains)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Trust Cost Nobody Talks About.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In 2026, $2 trillion was wiped from software stocks in a single wave, triggered by AI agent capabilities threatening per-seat SaaS models. Jason Lemkin put it bluntly: "If 10 AI agents can do the work of 100 sales reps, you don't need 100 Salesforce seats. that's a 90% reduction in seat revenue." But the panic missed a crucial distinction: agents that are cheap to build are expensive to trust.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Cursor Incident.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Cursor AI incident is the canonical example. In April 2025, the company's own AI support bot. "Sam". fabricated a nonexistent usage policy, confidently telling users their subscriptions were limited to one device. Users threatened to cancel. The story hit Hacker News, Reddit, and WIRED. Your "build cost" for agents is low, but your "trust cost" is high. Agents drift, hallucinate, and develop emergent behaviors. The decision to deploy an agent is really the decision to staff ongoing oversight.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SaaStr/Jason Lemkin ($2T, 90% seat reduction) [22]; Cursor AI incident (WIRED) [15]</a:t>
            </a:r>
            <a:endParaRPr lang="en-US" sz="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08</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Governance Gap</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Who owns what the AI says when it breaks?</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Incident Nobody Prepared For.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An AI agent in your product just recommended a pricing change to a customer that violates their contract terms. Sales is furious. Legal is terrified. Your PM says "that wasn't in my spec." The engineering lead says "it worked correctly in testing." The head of Customer Success is drafting an apology. And you. the product leader. are sitting in a conference room trying to answer a question nobody prepared for: who owns what the AI says?</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isn't a hypothetical. Seventy-eight percent of organizations use AI, but only 24% have governance programs. That gap is projected to cost B2B companies more than $10 billion in 2026 alone. And it's not a technology gap. it's a leadership gap.</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EY (78% AI use, 24% governance) [23]; Industry projections ($10B governance gap) [24]</a:t>
            </a:r>
            <a:endParaRPr lang="en-US" sz="6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Governance as Competitive Moat.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Governance sounds like compliance, which sounds like paperwork, which sounds like something that slows you down. But here's what nobody tells you: governance is a competitive moat. Enterprise buyers will pay more for AI products with clear governance. The EU AI Act, with enforcement beginning August 2026, will fine non-compliant companies up to €35 million or 7% of global turnover. Companies that build governance now aren't just avoiding fines. they're positioning themselves to win the deals their ungoverned competitors will lose.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EY and Credo AI Were Right.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EY published a framework positioning AI governance as competitive advantage, not compliance cost. Credo AI predicted that 2025 would mark the year governance became a strategic differentiator. They were both right. just a year early. The differentiation is happening now, in the RFP responses and security reviews that determine which vendor wins the enterprise deal.</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EU AI Act (€35M fines, 7% turnover) [25]; EY (governance as advantage) [23]; Credo AI [26]</a:t>
            </a:r>
            <a:endParaRPr lang="en-US" sz="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Training Data Provenance.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Where did the data come from that trained or fine-tuned the AI in your product? Can you document it? Can you explain it to a customer's legal team in plain language? If you can't, that's a deal-breaker for regulated industries. and increasingly for everyone else.</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Output Boundaries.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What is the AI allowed to say? What is it explicitly NOT allowed to say? This isn't about prompt engineering. it's about product decisions. Who approved the boundary? When was it last reviewed? Is it documented somewhere a non-engineer can read it?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Escalation Paths and Rollback Authority.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When the AI encounters something outside its boundaries, what happens? Does it fail silently? Does it flag a human? Does it make something up? And when something goes wrong, who has the authority to turn the AI off? How fast can they do it? Is it a button or a deploy cycle? In the pricing incident scenario, the answer better be "within minutes". not "after the next release."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ISACA (69% AI data leak concern, 47% no controls) [27]; Leverage Strategies analysis, 2026</a:t>
            </a:r>
            <a:endParaRPr lang="en-US" sz="6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AI Product Governance Model</a:t>
            </a:r>
            <a:endParaRPr lang="en-US" sz="1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2560320"/>
                <a:gridCol w="2560320"/>
                <a:gridCol w="256032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Component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Who Owns It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Review Cadence</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Training data provenance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AI/ML Engineering Lead</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Quarterly + any model update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Output boundaries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Product Manager (Architect)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Monthly + any prompt change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Escalation paths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Product Ops (Operator)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Monthly + any incident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Rollback authority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VP Engineering + VP Product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Quarterly + post-incident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Customer-facing AI docs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Product Marketing + Legal</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Quarterly + any material change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09</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Rituals and Rhythms</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Your operating model from 2023 is obsolete.</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Tuesday Morning Problem.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It's Tuesday morning. Your engineering team's AI coding agent merged 47 changes since Friday. Your weekly sprint review is tomorrow. You open the sprint board and realize you have no idea what half of these changes do, whether they were tested against your design system, or whether any of them touched the enterprise API that three customers depend on. The sprint review format you've used for two years. "here's what we committed to, here's what we shipped". is suddenly useless. The team shipped more than they committed to. That should feel like a win. It feels like chaos.</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operating model is broken. Not because it was bad. it was designed for a world where the bottleneck was build speed. In 2026, the pace of change is machine-scale, and your rituals haven't caught up.</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Spotify (650 PRs/month, new review cadences) [2]; CIO.com (reimagining Spotify model) [28]</a:t>
            </a:r>
            <a:endParaRPr lang="en-US" sz="6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Dual-Loop Operating Model.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need two loops running simultaneously. They operate at different speeds, serve different purposes, and answer different questions.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Loop 1 (Fast):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your daily and twice-weekly cadence. It handles AI output review, automated quality gates, and agent behavior monitoring. The question this loop answers: "Is what we shipped yesterday still working correctly today?" This loop catches drift, quality degradation, and unexpected agent behaviors before customers do.</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Loop 2 (Slow):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your monthly and quarterly cadence. It handles strategic bet review, human-led discovery synthesis, and portfolio rebalancing. The question this loop answers: "Are we building the right things?" This loop prevents the fast loop from becoming a treadmill. shipping, monitoring, and fixing without ever questioning whether the direction is right.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Dual-Loop Operating Cadences</a:t>
            </a:r>
            <a:endParaRPr lang="en-US" sz="1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1828800"/>
                <a:gridCol w="2286000"/>
                <a:gridCol w="356616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Cadence</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Ritual</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Key Question</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Daily (15 min)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Signal Standup</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What did our metrics tell us vs. what was noise?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Twice weekly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Output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Is the AI behaving within its boundaries?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Weekly (30 min)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Kill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What should we stop, remove, or sunset?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Monthly (2 hrs)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Bet Board Review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Are our bets paying off? What do we rebalance?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Quarterly (half day)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Portfolio Reset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Are we in the right markets with the right bets?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Kill Review.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Once a week, 30 minutes, product leadership only. One agenda item: what should we stop? Features that nobody uses. Agents that drift too often. Experiments that didn't pan out. Integrations that create more support tickets than value. This is the hardest meeting on your calendar because everything has a stakeholder, and killing something means telling that stakeholder no. But without it, your product accumulates barnacles until it sinks.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Signal Standup.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Daily, 15 minutes. PM and tech lead only. Review yesterday's metrics and explicitly separate signal from noise. "DAU was up 8%. but 6% of that was agent-mediated activity. Real human intent signals were flat." This ritual trains your team to stop celebrating metrics and start interrogating them.</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monday.com (AI-powered planning) [29]; Leverage Strategies analysis, 2026</a:t>
            </a:r>
            <a:endParaRPr lang="en-US" sz="6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Bet Board.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replaces your traditional roadmap. Instead of a list of features with dates, it's a portfolio of bets with expected outcomes, kill criteria, and current status. Everything your team works on appears here. features, agents, experiments, infrastructure. The Bet Board makes tradeoffs visible. When someone asks for a new initiative, you don't say "we can't". you say "what comes off the board to make room?"</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"Business expectations have changed drastically since three to five years ago. Agile needs to include continuous planning and change management disciplines." Your operating model from 2023 isn't wrong. It's obsolete.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10</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Uncomfortable Truth</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Half your product team is doing work AI already does better.</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Conversation Nobody Wants to Have.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Let's talk about the thing nobody wants to say out loud. You've got a team of product managers. Some of them are brilliant strategic thinkers who navigate ambiguity, build cross-functional trust, and make judgment calls that no algorithm can replicate. And some of them spend 80% of their time writing tickets, formatting PRDs, running competitive analyses that regurgitate the same three analyst reports, and producing prioritization spreadsheets that nobody reads.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AI Is Already Better at the Second List.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Not "someday better." Better today. ChatPRD reviews product documents like a Chief Product Officer. identifying strategic gaps, questioning assumptions, and coaching users to think more deeply. It's not replacing the PM. It's replacing the part of the PM's job that was always busywork pretending to be strategy. And entry-level PM hiring dropped 73.4% year-on-year in 2025. The market has already decided.</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ChatPRD [30]; LinkedIn (73.4% entry PM hiring decline) [13]</a:t>
            </a:r>
            <a:endParaRPr lang="en-US" sz="6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731520" y="457200"/>
            <a:ext cx="7680960" cy="457200"/>
          </a:xfrm>
          <a:prstGeom prst="rect">
            <a:avLst/>
          </a:prstGeom>
          <a:noFill/>
          <a:ln/>
        </p:spPr>
        <p:txBody>
          <a:bodyPr wrap="square" rtlCol="0" anchor="ctr"/>
          <a:lstStyle/>
          <a:p>
            <a:pPr algn="ctr" indent="0" marL="0">
              <a:buNone/>
            </a:pPr>
            <a:r>
              <a:rPr lang="en-US" sz="1800" b="1" i="1" dirty="0">
                <a:solidFill>
                  <a:srgbClr val="333333"/>
                </a:solidFill>
                <a:latin typeface="Georgia" pitchFamily="34" charset="0"/>
                <a:ea typeface="Georgia" pitchFamily="34" charset="-122"/>
                <a:cs typeface="Georgia" pitchFamily="34" charset="-120"/>
              </a:rPr>
              <a:t>The Judgment vs. Process Matrix</a:t>
            </a:r>
            <a:endParaRPr lang="en-US" sz="1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7680960" cy="914400"/>
        </p:xfrm>
        <a:graphic>
          <a:graphicData uri="http://schemas.openxmlformats.org/drawingml/2006/table">
            <a:tbl>
              <a:tblPr/>
              <a:tblGrid>
                <a:gridCol w="2194560"/>
                <a:gridCol w="1371600"/>
                <a:gridCol w="1645920"/>
                <a:gridCol w="2468880"/>
              </a:tblGrid>
              <a:tr h="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Activity</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Judgment Required</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AI Can Do It?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F0F2B"/>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Writing user stories/tickets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Low</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Yes, often better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Automate it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Competitive analysis (report)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Low-Medium</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Yes, faster</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Automate, human reviews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PRD first drafts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Medium</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Yes. Claude excels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AI drafts, PM refines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Customer discovery interviews</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High</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No. nuance, empathy</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Protect this time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Cross-functional negotiation</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Very High</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This is your core value</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333333"/>
                          </a:solidFill>
                          <a:latin typeface="Arial" pitchFamily="34" charset="0"/>
                          <a:ea typeface="Arial" pitchFamily="34" charset="-122"/>
                          <a:cs typeface="Arial" pitchFamily="34" charset="-120"/>
                        </a:rPr>
                        <a:t>Saying “no” to the CEO</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Very High</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Absolutely not</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c>
                  <a:txBody>
                    <a:bodyPr/>
                    <a:lstStyle/>
                    <a:p>
                      <a:pPr indent="0" marL="0">
                        <a:buNone/>
                      </a:pPr>
                      <a:r>
                        <a:rPr lang="en-US" sz="1000" dirty="0">
                          <a:solidFill>
                            <a:srgbClr val="333333"/>
                          </a:solidFill>
                          <a:latin typeface="Arial" pitchFamily="34" charset="0"/>
                          <a:ea typeface="Arial" pitchFamily="34" charset="-122"/>
                          <a:cs typeface="Arial" pitchFamily="34" charset="-120"/>
                        </a:rPr>
                        <a:t>This is why you have a job</a:t>
                      </a:r>
                      <a:endParaRPr lang="en-US" sz="1000" dirty="0">
                        <a:latin typeface="Arial" charset="0"/>
                        <a:ea typeface="Arial" charset="0"/>
                        <a:cs typeface="Arial" charset="0"/>
                      </a:endParaRPr>
                    </a:p>
                  </a:txBody>
                  <a:tcPr marL="73152" marR="73152" marT="73152" marB="73152">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ECE6"/>
                    </a:solidFill>
                  </a:tcPr>
                </a:tc>
              </a:tr>
            </a:tbl>
          </a:graphicData>
        </a:graphic>
      </p:graphicFrame>
      <p:sp>
        <p:nvSpPr>
          <p:cNvPr id="4"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Google AI product lead [31]; Leverage Strategies analysis, 2026</a:t>
            </a:r>
            <a:endParaRPr lang="en-US" sz="6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Polarization of the PM Market.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Google's AI product lead said it plainly: "PMs who use AI will replace those who don't." But that's only half the story. PMs whose entire value is process. writing, formatting, scoring, reporting. will be replaced by AI regardless of whether they use it. The AI isn't coming for your job. It's coming for the parts of your job that were never the real job in the first place.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PM job market is polarizing: high-judgment roles at $286K to $569K on one end, eliminated process roles on the other. The middle. the "solid PM who writes good tickets". is being hollowed out. If that description fits you, the next twelve months are your window to move up or get moved out.</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LinkedIn/Revelio Labs ($286K to $569K AI PM roles) [13]; Leverage Strategies analysis, 2026</a:t>
            </a:r>
            <a:endParaRPr lang="en-US" sz="6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Honest Career Conversation.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If you manage a product team, you owe them this conversation. Not in a performance review. Not in a group setting. One-on-one, with honesty and empathy. "Here's what AI can now do. Here's what it can't. Here's where I see your unique value. And here's where I think you need to grow." The PMs who hear this early enough can pivot. The ones who find out when the reorg happens can't.</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And if you are the PM: be honest with yourself. If the best thing on your résumé is "launched X features" and you can't articulate the judgment calls behind those launches. why you said no to the alternatives, what you killed, what you learned from what failed. then your résumé describes work that AI will own within the year. The future PM résumé leads with decisions, not deliverables.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11</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The 60-Day Product</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Leadership Sprint</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From diagnosis to operating model in eight weeks.</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Starting This Week.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You've read the frameworks. You've felt the recognition in every section. the backlog that doesn't matter, the metrics that lie, the roadmap that's a wish list, the team doing work AI already does better. Now the question is: what do you actually do about it? Not in theory. Not "when we get to it next quarter." Starting this week.</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Who This Sprint Is For.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sprint is designed for a Head of Product or VP of Product who has organizational authority to change how their team operates. If you're a senior PM without that authority, adapt it. run the diagnostics on your own scope, propose the changes upward, and demonstrate the results. Reforge launched five AI products in nine months with 25 people. Your transformation doesn't need permission from the whole org. It needs one team willing to operate differently.</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Reforge (5 products, 25 people) [9]; Leverage Strategies analysis, 2026</a:t>
            </a:r>
            <a:endParaRPr lang="en-US" sz="6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1 to 10: Diagnose.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Score your Product Judgment Stack. Use the diagnostic from Section 2. Be brutally honest. Share the scores with your leadership team and ask them to score independently. The gaps between your scores are as informative as the scores themselves.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Audit Your Metrics for AI Noise.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Use the Signal vs. Noise Scorecard from Section 5. Classify your top 10 metrics. How many are Ghost Signals? How many are Agent-Mediated? This audit alone will change how your team talks about product health.</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Find the Dead Feature.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Identify one feature shipped in the last two quarters that has less than 5% adoption. Document what happened: who requested it, what the expected outcome was, and why nobody uses it. This isn't about blame. it's about building the case for kill criteria.</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11 to 30: Restructure.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Run the Agent-Feature Spectrum exercise. Take your next quarter's planned work and map every item on the spectrum from Section 7. You'll likely find that 20 to 30% of planned features should be agents, and 10 to 15% shouldn't be built at all.</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Launch the Kill Review.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Start the weekly 30-minute ritual from Section 9. Your first Kill Review should target the dead feature you identified in the diagnostic phase. Make it visible. Make it celebrated. Killing something should feel as significant as shipping something.</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Name the Three PMs and Convert Your Roadmap.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Even if the same people fill multiple roles, explicitly assign Curator, Architect, and Operator responsibilities. Write it down. Share it. Make it part of your team's language. Then convert your roadmap to a Bet Board. every item gets a hypothesis, a measurement plan, and kill criteria. Items that can't be expressed as bets get flagged for review.</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31 to 50: Instrument.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Replace three vanity metrics. Pick the three worst Ghost Signal metrics from your audit and replace them with Human Intent Signal equivalents. This is harder than it sounds. you'll need to instrument new tracking and convince your team to stop celebrating the old numbers.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Set Up AI Output Review.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If your product includes AI-generated output, establish the twice-weekly review cadence from Section 9. Define the boundaries. Document the escalation path. Know who has rollback authority.</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Run One Prototype Before You Ask Cycle.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Pick a customer problem from your backlog and run the week-long discovery cycle from Section 6. Build three prototypes, show them to users, kill two. The goal isn't the surviving prototype. it's teaching your team the discipline of generative discovery.</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Days 51 to 60: Lock In.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Document your AI Product Governance Model. Even version 0.1 is infinitely better than nothing. Use the framework from Section 8. Cover the four components: data provenance, output boundaries, escalation paths, rollback authority. Share it with your legal and security teams.</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Present the Dual-Loop Operating Model.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Show your exec team the new cadences from Section 9. Explain why the old sprint review doesn't work when agents merge 47 changes over a weekend. Get buy-in for the Kill Review, Signal Standup, and Bet Board.</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Set 90-Day Targets.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Using your new metrics, set targets for the next quarter. Not feature-shipped targets. outcome targets. Adoption targets. Kill targets. Signal-to-noise ratio targets. These are the numbers you'll be judged on, so make sure they measure what matters.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(50% increase in daily feature use from analytics) [4]; Leverage Strategies analysis, 2026</a:t>
            </a:r>
            <a:endParaRPr lang="en-US" sz="6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731520" y="457200"/>
            <a:ext cx="7680960" cy="3931920"/>
          </a:xfrm>
          <a:prstGeom prst="rect">
            <a:avLst/>
          </a:prstGeom>
          <a:noFill/>
          <a:ln/>
        </p:spPr>
        <p:txBody>
          <a:bodyPr wrap="square" rtlCol="0" anchor="ctr"/>
          <a:lstStyle/>
          <a:p>
            <a:pPr indent="0" marL="0">
              <a:lnSpc>
                <a:spcPct val="115000"/>
              </a:lnSpc>
              <a:buNone/>
            </a:pPr>
            <a:r>
              <a:rPr lang="en-US" sz="2400" b="1" i="1" dirty="0">
                <a:solidFill>
                  <a:srgbClr val="FFFFFF"/>
                </a:solidFill>
                <a:latin typeface="Georgia" pitchFamily="34" charset="0"/>
                <a:ea typeface="Georgia" pitchFamily="34" charset="-122"/>
                <a:cs typeface="Georgia" pitchFamily="34" charset="-120"/>
              </a:rPr>
              <a:t>The bottleneck didn't disappear. It moved. from your engineers to you. The best PMs in 2026 aren't the ones with the most features shipped. They're the ones with the most features stopped.</a:t>
            </a:r>
            <a:endParaRPr lang="en-US" sz="2400" dirty="0"/>
          </a:p>
        </p:txBody>
      </p:sp>
      <p:sp>
        <p:nvSpPr>
          <p:cNvPr id="3" name="Text 1"/>
          <p:cNvSpPr/>
          <p:nvPr/>
        </p:nvSpPr>
        <p:spPr>
          <a:xfrm>
            <a:off x="731520" y="3657600"/>
            <a:ext cx="7315200" cy="365760"/>
          </a:xfrm>
          <a:prstGeom prst="rect">
            <a:avLst/>
          </a:prstGeom>
          <a:noFill/>
          <a:ln/>
        </p:spPr>
        <p:txBody>
          <a:bodyPr wrap="square" rtlCol="0" anchor="ctr"/>
          <a:lstStyle/>
          <a:p>
            <a:pPr indent="0" marL="0">
              <a:buNone/>
            </a:pPr>
            <a:r>
              <a:rPr lang="en-US" sz="1300" dirty="0">
                <a:solidFill>
                  <a:srgbClr val="999999"/>
                </a:solidFill>
                <a:latin typeface="Arial" pitchFamily="34" charset="0"/>
                <a:ea typeface="Arial" pitchFamily="34" charset="-122"/>
                <a:cs typeface="Arial" pitchFamily="34" charset="-120"/>
              </a:rPr>
              <a:t>The PM's New Job. Leverage Strategies</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731520" y="731520"/>
            <a:ext cx="7680960" cy="9144"/>
          </a:xfrm>
          <a:prstGeom prst="rect">
            <a:avLst/>
          </a:prstGeom>
          <a:solidFill>
            <a:srgbClr val="9B8EC4"/>
          </a:solidFill>
          <a:ln/>
        </p:spPr>
        <p:txBody>
          <a:bodyPr/>
          <a:p/>
        </p:txBody>
      </p:sp>
      <p:sp>
        <p:nvSpPr>
          <p:cNvPr id="3" name="Text 1"/>
          <p:cNvSpPr/>
          <p:nvPr/>
        </p:nvSpPr>
        <p:spPr>
          <a:xfrm>
            <a:off x="658368" y="868680"/>
            <a:ext cx="3657600" cy="320040"/>
          </a:xfrm>
          <a:prstGeom prst="rect">
            <a:avLst/>
          </a:prstGeom>
          <a:noFill/>
          <a:ln/>
        </p:spPr>
        <p:txBody>
          <a:bodyPr wrap="square" rtlCol="0" anchor="ctr"/>
          <a:lstStyle/>
          <a:p>
            <a:pPr indent="0" marL="0">
              <a:buNone/>
            </a:pPr>
            <a:r>
              <a:rPr lang="en-US" sz="1100" b="1" dirty="0">
                <a:solidFill>
                  <a:srgbClr val="9B8EC4"/>
                </a:solidFill>
                <a:latin typeface="Arial" pitchFamily="34" charset="0"/>
                <a:ea typeface="Arial" pitchFamily="34" charset="-122"/>
                <a:cs typeface="Arial" pitchFamily="34" charset="-120"/>
              </a:rPr>
              <a:t>S E C T I O N  12</a:t>
            </a:r>
            <a:endParaRPr lang="en-US" sz="1100" dirty="0"/>
          </a:p>
        </p:txBody>
      </p:sp>
      <p:sp>
        <p:nvSpPr>
          <p:cNvPr id="4" name="Text 2"/>
          <p:cNvSpPr/>
          <p:nvPr/>
        </p:nvSpPr>
        <p:spPr>
          <a:xfrm>
            <a:off x="731520" y="1188720"/>
            <a:ext cx="7680960" cy="2606040"/>
          </a:xfrm>
          <a:prstGeom prst="rect">
            <a:avLst/>
          </a:prstGeom>
          <a:noFill/>
          <a:ln/>
        </p:spPr>
        <p:txBody>
          <a:bodyPr wrap="square" rtlCol="0" anchor="ctr"/>
          <a:lstStyle/>
          <a:p>
            <a:pPr indent="0" marL="0">
              <a:buNone/>
            </a:pPr>
            <a:r>
              <a:rPr lang="en-US" sz="3800" i="1" dirty="0">
                <a:solidFill>
                  <a:srgbClr val="FFFFFF"/>
                </a:solidFill>
                <a:latin typeface="Georgia" pitchFamily="34" charset="0"/>
                <a:ea typeface="Georgia" pitchFamily="34" charset="-122"/>
                <a:cs typeface="Georgia" pitchFamily="34" charset="-120"/>
              </a:rPr>
              <a:t>What Happens If You</a:t>
            </a:r>
            <a:endParaRPr lang="en-US" sz="3800" dirty="0"/>
          </a:p>
          <a:p>
            <a:pPr indent="0" marL="0">
              <a:buNone/>
            </a:pPr>
            <a:r>
              <a:rPr lang="en-US" sz="3800" i="1" dirty="0">
                <a:solidFill>
                  <a:srgbClr val="FFFFFF"/>
                </a:solidFill>
                <a:latin typeface="Georgia" pitchFamily="34" charset="0"/>
                <a:ea typeface="Georgia" pitchFamily="34" charset="-122"/>
                <a:cs typeface="Georgia" pitchFamily="34" charset="-120"/>
              </a:rPr>
              <a:t>Don't Do This</a:t>
            </a:r>
            <a:endParaRPr lang="en-US" sz="3800" dirty="0"/>
          </a:p>
        </p:txBody>
      </p:sp>
      <p:sp>
        <p:nvSpPr>
          <p:cNvPr id="5" name="Shape 3"/>
          <p:cNvSpPr/>
          <p:nvPr/>
        </p:nvSpPr>
        <p:spPr>
          <a:xfrm>
            <a:off x="731520" y="3794760"/>
            <a:ext cx="7680960" cy="9144"/>
          </a:xfrm>
          <a:prstGeom prst="rect">
            <a:avLst/>
          </a:prstGeom>
          <a:solidFill>
            <a:srgbClr val="9B8EC4"/>
          </a:solidFill>
          <a:ln/>
        </p:spPr>
        <p:txBody>
          <a:bodyPr/>
          <a:p/>
        </p:txBody>
      </p:sp>
      <p:sp>
        <p:nvSpPr>
          <p:cNvPr id="6" name="Text 4"/>
          <p:cNvSpPr/>
          <p:nvPr/>
        </p:nvSpPr>
        <p:spPr>
          <a:xfrm>
            <a:off x="731520" y="3931920"/>
            <a:ext cx="7315200" cy="457200"/>
          </a:xfrm>
          <a:prstGeom prst="rect">
            <a:avLst/>
          </a:prstGeom>
          <a:noFill/>
          <a:ln/>
        </p:spPr>
        <p:txBody>
          <a:bodyPr wrap="square" rtlCol="0" anchor="ctr"/>
          <a:lstStyle/>
          <a:p>
            <a:pPr indent="0" marL="0">
              <a:buNone/>
            </a:pPr>
            <a:r>
              <a:rPr lang="en-US" sz="1400" i="1" dirty="0">
                <a:solidFill>
                  <a:srgbClr val="9B8EC4"/>
                </a:solidFill>
                <a:latin typeface="Georgia" pitchFamily="34" charset="0"/>
                <a:ea typeface="Georgia" pitchFamily="34" charset="-122"/>
                <a:cs typeface="Georgia" pitchFamily="34" charset="-120"/>
              </a:rPr>
              <a:t>The gap is already visible. Within twelve months, it will be irreversible.</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Competitive Scenario.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competitor. the one with the smaller team and the scrappier product. just hired a Head of Product who spent three weeks running a version of the 60-day sprint from this playbook. They converted their roadmap to a bet portfolio and killed 30% of planned features. They deployed agents where it made sense and built features where it didn't. They stood up a governance model that passes enterprise security reviews in half the time yours does. When the RFP comes in from that healthcare system you've been courting for eight months, they respond in a week with a product that's simpler, more trustworthy, and governed. You respond in three weeks with a product that has more features but can't answer the question: "Who owns what the AI says?" They win. Not because their AI is better. Because their product judgment was faster.</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Talent Scenario.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Your best PM. the one who actually has product judgment, the one who pushed back on bad ideas and made the hard calls. just got recruited. The offer is $420K, title is "AI Product Lead," and the company is half your size but moving three times faster. She tells you she's leaving because she's still spending 60% of her time writing Jira tickets and fighting for roadmap slots while the market is paying for the kind of strategic thinking she's been doing in her spare time. You counter-offer, but you both know the problem isn't compensation. It's that your org doesn't have a place for what she's best at.</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
</a:t>
            </a:r>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Migration Has Started.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AI PM roles command $286K to $569K. Traditional PM roles are stagnant or declining. The talent migration has started and it's not coming back.</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LinkedIn/Revelio Labs ($286K to $569K AI PM compensation) [13]; Leverage Strategies analysis, 2026</a:t>
            </a:r>
            <a:endParaRPr lang="en-US" sz="6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Product Scenario.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Eighteen months from now, your product has 40% more features than it had today. Your engineering team shipped everything. because they could. Usage looks fine on the dashboard, because your AI features are generating their own engagement metrics. But renewal conversations are getting harder. Your CS team reports that customers "love individual features but feel overwhelmed by the product." Your NPS is flat even though you've never shipped more. Feature bloat contributes to 40% of product abandonment, and your median NRR of 82% means you're shrinking within your existing customer base even as you celebrate record feature velocity.</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This is the feature cemetery. Everything AI could build, nothing a human deliberately chose.</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Sources: Pendo (40% abandonment from bloat) [4]; ChartMogul (82% median NRR) [10]</a:t>
            </a:r>
            <a:endParaRPr lang="en-US" sz="6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548640" y="914400"/>
            <a:ext cx="2560320" cy="2926080"/>
          </a:xfrm>
          <a:prstGeom prst="rect">
            <a:avLst/>
          </a:prstGeom>
          <a:solidFill>
            <a:srgbClr val="3D2A1A"/>
          </a:solidFill>
          <a:ln/>
          <a:effectLst>
            <a:outerShdw sx="100000" sy="100000" kx="0" ky="0" algn="bl" rotWithShape="0" blurRad="50800" dist="25400" dir="8100000">
              <a:srgbClr val="000000">
                <a:alpha val="8000"/>
              </a:srgbClr>
            </a:outerShdw>
          </a:effectLst>
        </p:spPr>
        <p:txBody>
          <a:bodyPr/>
          <a:p/>
        </p:txBody>
      </p:sp>
      <p:sp>
        <p:nvSpPr>
          <p:cNvPr id="3" name="Shape 1"/>
          <p:cNvSpPr/>
          <p:nvPr/>
        </p:nvSpPr>
        <p:spPr>
          <a:xfrm>
            <a:off x="548640" y="914400"/>
            <a:ext cx="2560320" cy="54864"/>
          </a:xfrm>
          <a:prstGeom prst="rect">
            <a:avLst/>
          </a:prstGeom>
          <a:solidFill>
            <a:srgbClr val="9B8EC4"/>
          </a:solidFill>
          <a:ln/>
        </p:spPr>
        <p:txBody>
          <a:bodyPr/>
          <a:p/>
        </p:txBody>
      </p:sp>
      <p:sp>
        <p:nvSpPr>
          <p:cNvPr id="4" name="Text 2"/>
          <p:cNvSpPr/>
          <p:nvPr/>
        </p:nvSpPr>
        <p:spPr>
          <a:xfrm>
            <a:off x="548640" y="1371600"/>
            <a:ext cx="2560320" cy="914400"/>
          </a:xfrm>
          <a:prstGeom prst="rect">
            <a:avLst/>
          </a:prstGeom>
          <a:noFill/>
          <a:ln/>
        </p:spPr>
        <p:txBody>
          <a:bodyPr wrap="square" rtlCol="0" anchor="ctr"/>
          <a:lstStyle/>
          <a:p>
            <a:pPr algn="ctr" indent="0" marL="0">
              <a:buNone/>
            </a:pPr>
            <a:r>
              <a:rPr lang="en-US" sz="4800" b="1" dirty="0">
                <a:solidFill>
                  <a:srgbClr val="9B8EC4"/>
                </a:solidFill>
                <a:latin typeface="Georgia" pitchFamily="34" charset="0"/>
                <a:ea typeface="Georgia" pitchFamily="34" charset="-122"/>
                <a:cs typeface="Georgia" pitchFamily="34" charset="-120"/>
              </a:rPr>
              <a:t>$2T</a:t>
            </a:r>
            <a:endParaRPr lang="en-US" sz="4800" dirty="0"/>
          </a:p>
        </p:txBody>
      </p:sp>
      <p:sp>
        <p:nvSpPr>
          <p:cNvPr id="5" name="Text 3"/>
          <p:cNvSpPr/>
          <p:nvPr/>
        </p:nvSpPr>
        <p:spPr>
          <a:xfrm>
            <a:off x="685800" y="2468880"/>
            <a:ext cx="2286000" cy="731520"/>
          </a:xfrm>
          <a:prstGeom prst="rect">
            <a:avLst/>
          </a:prstGeom>
          <a:noFill/>
          <a:ln/>
        </p:spPr>
        <p:txBody>
          <a:bodyPr wrap="square" rtlCol="0" anchor="t"/>
          <a:lstStyle/>
          <a:p>
            <a:pPr algn="ctr" indent="0" marL="0">
              <a:buNone/>
            </a:pPr>
            <a:r>
              <a:rPr lang="en-US" sz="1100" dirty="0">
                <a:solidFill>
                  <a:srgbClr val="999999"/>
                </a:solidFill>
                <a:latin typeface="Arial" pitchFamily="34" charset="0"/>
                <a:ea typeface="Arial" pitchFamily="34" charset="-122"/>
                <a:cs typeface="Arial" pitchFamily="34" charset="-120"/>
              </a:rPr>
              <a:t>Wiped from software stocks in a single wave</a:t>
            </a:r>
            <a:endParaRPr lang="en-US" sz="1100" dirty="0"/>
          </a:p>
        </p:txBody>
      </p:sp>
      <p:sp>
        <p:nvSpPr>
          <p:cNvPr id="6" name="Shape 4"/>
          <p:cNvSpPr/>
          <p:nvPr/>
        </p:nvSpPr>
        <p:spPr>
          <a:xfrm>
            <a:off x="3383280" y="914400"/>
            <a:ext cx="2560320" cy="2926080"/>
          </a:xfrm>
          <a:prstGeom prst="rect">
            <a:avLst/>
          </a:prstGeom>
          <a:solidFill>
            <a:srgbClr val="3D2A1A"/>
          </a:solidFill>
          <a:ln/>
          <a:effectLst>
            <a:outerShdw sx="100000" sy="100000" kx="0" ky="0" algn="bl" rotWithShape="0" blurRad="50800" dist="25400" dir="8100000">
              <a:srgbClr val="000000">
                <a:alpha val="8000"/>
              </a:srgbClr>
            </a:outerShdw>
          </a:effectLst>
        </p:spPr>
        <p:txBody>
          <a:bodyPr/>
          <a:p/>
        </p:txBody>
      </p:sp>
      <p:sp>
        <p:nvSpPr>
          <p:cNvPr id="7" name="Shape 5"/>
          <p:cNvSpPr/>
          <p:nvPr/>
        </p:nvSpPr>
        <p:spPr>
          <a:xfrm>
            <a:off x="3383280" y="914400"/>
            <a:ext cx="2560320" cy="54864"/>
          </a:xfrm>
          <a:prstGeom prst="rect">
            <a:avLst/>
          </a:prstGeom>
          <a:solidFill>
            <a:srgbClr val="9B8EC4"/>
          </a:solidFill>
          <a:ln/>
        </p:spPr>
        <p:txBody>
          <a:bodyPr/>
          <a:p/>
        </p:txBody>
      </p:sp>
      <p:sp>
        <p:nvSpPr>
          <p:cNvPr id="8" name="Text 6"/>
          <p:cNvSpPr/>
          <p:nvPr/>
        </p:nvSpPr>
        <p:spPr>
          <a:xfrm>
            <a:off x="3383280" y="1371600"/>
            <a:ext cx="2560320" cy="914400"/>
          </a:xfrm>
          <a:prstGeom prst="rect">
            <a:avLst/>
          </a:prstGeom>
          <a:noFill/>
          <a:ln/>
        </p:spPr>
        <p:txBody>
          <a:bodyPr wrap="square" rtlCol="0" anchor="ctr"/>
          <a:lstStyle/>
          <a:p>
            <a:pPr algn="ctr" indent="0" marL="0">
              <a:buNone/>
            </a:pPr>
            <a:r>
              <a:rPr lang="en-US" sz="4800" b="1" dirty="0">
                <a:solidFill>
                  <a:srgbClr val="9B8EC4"/>
                </a:solidFill>
                <a:latin typeface="Georgia" pitchFamily="34" charset="0"/>
                <a:ea typeface="Georgia" pitchFamily="34" charset="-122"/>
                <a:cs typeface="Georgia" pitchFamily="34" charset="-120"/>
              </a:rPr>
              <a:t>73%</a:t>
            </a:r>
            <a:endParaRPr lang="en-US" sz="4800" dirty="0"/>
          </a:p>
        </p:txBody>
      </p:sp>
      <p:sp>
        <p:nvSpPr>
          <p:cNvPr id="9" name="Text 7"/>
          <p:cNvSpPr/>
          <p:nvPr/>
        </p:nvSpPr>
        <p:spPr>
          <a:xfrm>
            <a:off x="3520440" y="2468880"/>
            <a:ext cx="2286000" cy="731520"/>
          </a:xfrm>
          <a:prstGeom prst="rect">
            <a:avLst/>
          </a:prstGeom>
          <a:noFill/>
          <a:ln/>
        </p:spPr>
        <p:txBody>
          <a:bodyPr wrap="square" rtlCol="0" anchor="t"/>
          <a:lstStyle/>
          <a:p>
            <a:pPr algn="ctr" indent="0" marL="0">
              <a:buNone/>
            </a:pPr>
            <a:r>
              <a:rPr lang="en-US" sz="1100" dirty="0">
                <a:solidFill>
                  <a:srgbClr val="999999"/>
                </a:solidFill>
                <a:latin typeface="Arial" pitchFamily="34" charset="0"/>
                <a:ea typeface="Arial" pitchFamily="34" charset="-122"/>
                <a:cs typeface="Arial" pitchFamily="34" charset="-120"/>
              </a:rPr>
              <a:t>Drop in entry-level PM hiring year-on-year</a:t>
            </a:r>
            <a:endParaRPr lang="en-US" sz="1100" dirty="0"/>
          </a:p>
        </p:txBody>
      </p:sp>
      <p:sp>
        <p:nvSpPr>
          <p:cNvPr id="10" name="Shape 8"/>
          <p:cNvSpPr/>
          <p:nvPr/>
        </p:nvSpPr>
        <p:spPr>
          <a:xfrm>
            <a:off x="6217920" y="914400"/>
            <a:ext cx="2560320" cy="2926080"/>
          </a:xfrm>
          <a:prstGeom prst="rect">
            <a:avLst/>
          </a:prstGeom>
          <a:solidFill>
            <a:srgbClr val="3D2A1A"/>
          </a:solidFill>
          <a:ln/>
          <a:effectLst>
            <a:outerShdw sx="100000" sy="100000" kx="0" ky="0" algn="bl" rotWithShape="0" blurRad="50800" dist="25400" dir="8100000">
              <a:srgbClr val="000000">
                <a:alpha val="8000"/>
              </a:srgbClr>
            </a:outerShdw>
          </a:effectLst>
        </p:spPr>
        <p:txBody>
          <a:bodyPr/>
          <a:p/>
        </p:txBody>
      </p:sp>
      <p:sp>
        <p:nvSpPr>
          <p:cNvPr id="11" name="Shape 9"/>
          <p:cNvSpPr/>
          <p:nvPr/>
        </p:nvSpPr>
        <p:spPr>
          <a:xfrm>
            <a:off x="6217920" y="914400"/>
            <a:ext cx="2560320" cy="54864"/>
          </a:xfrm>
          <a:prstGeom prst="rect">
            <a:avLst/>
          </a:prstGeom>
          <a:solidFill>
            <a:srgbClr val="9B8EC4"/>
          </a:solidFill>
          <a:ln/>
        </p:spPr>
        <p:txBody>
          <a:bodyPr/>
          <a:p/>
        </p:txBody>
      </p:sp>
      <p:sp>
        <p:nvSpPr>
          <p:cNvPr id="12" name="Text 10"/>
          <p:cNvSpPr/>
          <p:nvPr/>
        </p:nvSpPr>
        <p:spPr>
          <a:xfrm>
            <a:off x="6217920" y="1371600"/>
            <a:ext cx="2560320" cy="914400"/>
          </a:xfrm>
          <a:prstGeom prst="rect">
            <a:avLst/>
          </a:prstGeom>
          <a:noFill/>
          <a:ln/>
        </p:spPr>
        <p:txBody>
          <a:bodyPr wrap="square" rtlCol="0" anchor="ctr"/>
          <a:lstStyle/>
          <a:p>
            <a:pPr algn="ctr" indent="0" marL="0">
              <a:buNone/>
            </a:pPr>
            <a:r>
              <a:rPr lang="en-US" sz="4800" b="1" dirty="0">
                <a:solidFill>
                  <a:srgbClr val="9B8EC4"/>
                </a:solidFill>
                <a:latin typeface="Georgia" pitchFamily="34" charset="0"/>
                <a:ea typeface="Georgia" pitchFamily="34" charset="-122"/>
                <a:cs typeface="Georgia" pitchFamily="34" charset="-120"/>
              </a:rPr>
              <a:t>24%</a:t>
            </a:r>
            <a:endParaRPr lang="en-US" sz="4800" dirty="0"/>
          </a:p>
        </p:txBody>
      </p:sp>
      <p:sp>
        <p:nvSpPr>
          <p:cNvPr id="13" name="Text 11"/>
          <p:cNvSpPr/>
          <p:nvPr/>
        </p:nvSpPr>
        <p:spPr>
          <a:xfrm>
            <a:off x="6355080" y="2468880"/>
            <a:ext cx="2286000" cy="731520"/>
          </a:xfrm>
          <a:prstGeom prst="rect">
            <a:avLst/>
          </a:prstGeom>
          <a:noFill/>
          <a:ln/>
        </p:spPr>
        <p:txBody>
          <a:bodyPr wrap="square" rtlCol="0" anchor="t"/>
          <a:lstStyle/>
          <a:p>
            <a:pPr algn="ctr" indent="0" marL="0">
              <a:buNone/>
            </a:pPr>
            <a:r>
              <a:rPr lang="en-US" sz="1100" dirty="0">
                <a:solidFill>
                  <a:srgbClr val="999999"/>
                </a:solidFill>
                <a:latin typeface="Arial" pitchFamily="34" charset="0"/>
                <a:ea typeface="Arial" pitchFamily="34" charset="-122"/>
                <a:cs typeface="Arial" pitchFamily="34" charset="-120"/>
              </a:rPr>
              <a:t>Of organizations with AI governance programs</a:t>
            </a:r>
            <a:endParaRPr lang="en-US" sz="1100" dirty="0"/>
          </a:p>
        </p:txBody>
      </p:sp>
      <p:sp>
        <p:nvSpPr>
          <p:cNvPr id="14" name="Text 12"/>
          <p:cNvSpPr/>
          <p:nvPr/>
        </p:nvSpPr>
        <p:spPr>
          <a:xfrm>
            <a:off x="548640" y="4114800"/>
            <a:ext cx="8046720" cy="274320"/>
          </a:xfrm>
          <a:prstGeom prst="rect">
            <a:avLst/>
          </a:prstGeom>
          <a:noFill/>
          <a:ln/>
        </p:spPr>
        <p:txBody>
          <a:bodyPr wrap="square" rtlCol="0" anchor="ctr"/>
          <a:lstStyle/>
          <a:p>
            <a:pPr algn="ctr" indent="0" marL="0">
              <a:buNone/>
            </a:pPr>
            <a:r>
              <a:rPr lang="en-US" sz="700" i="1" dirty="0">
                <a:solidFill>
                  <a:srgbClr val="4A5B6C"/>
                </a:solidFill>
                <a:latin typeface="Arial" pitchFamily="34" charset="0"/>
                <a:ea typeface="Arial" pitchFamily="34" charset="-122"/>
                <a:cs typeface="Arial" pitchFamily="34" charset="-120"/>
              </a:rPr>
              <a:t>Sources: SaaStr [22]; LinkedIn [13]; EY [23]</a:t>
            </a:r>
            <a:endParaRPr lang="en-US" sz="7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731520" y="91440"/>
            <a:ext cx="7680960" cy="4251960"/>
          </a:xfrm>
          <a:prstGeom prst="rect">
            <a:avLst/>
          </a:prstGeom>
          <a:noFill/>
          <a:ln/>
        </p:spPr>
        <p:txBody>
          <a:bodyPr wrap="square" rtlCol="0" anchor="ctr"/>
          <a:lstStyle/>
          <a:p>
            <a:pPr indent="0" marL="0">
              <a:lnSpc>
                <a:spcPct val="115000"/>
              </a:lnSpc>
              <a:spcAft>
                <a:spcPts val="600"/>
              </a:spcAft>
              <a:buNone/>
            </a:pPr>
            <a:r>
              <a:rPr lang="en-US" sz="1200" b="1" dirty="0">
                <a:solidFill>
                  <a:srgbClr val="333333"/>
                </a:solidFill>
                <a:latin typeface="Arial" pitchFamily="34" charset="0"/>
                <a:ea typeface="Arial" pitchFamily="34" charset="-122"/>
                <a:cs typeface="Arial" pitchFamily="34" charset="-120"/>
              </a:rPr>
              <a:t>The Choice. </a:t>
            </a:r>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The gap between product teams that adapted and product teams that didn't is already visible. Within twelve months, it will be irreversible. The teams that built judgment systems. the diagnostic frameworks, the kill rituals, the governance models, the new metrics. will be the ones winning enterprise deals, retaining top talent, and building products that customers actually use. The teams that ran faster on the old model will be the ones wondering why velocity didn't translate to value.</a:t>
            </a:r>
            <a:endParaRPr lang="en-US" sz="1200" dirty="0"/>
          </a:p>
          <a:p>
            <a:pPr indent="0" marL="0">
              <a:lnSpc>
                <a:spcPct val="115000"/>
              </a:lnSpc>
              <a:spcAft>
                <a:spcPts val="600"/>
              </a:spcAft>
              <a:buNone/>
            </a:pPr>
            <a:endParaRPr lang="en-US" sz="1200" dirty="0"/>
          </a:p>
          <a:p>
            <a:pPr indent="0" marL="0">
              <a:lnSpc>
                <a:spcPct val="115000"/>
              </a:lnSpc>
              <a:spcAft>
                <a:spcPts val="600"/>
              </a:spcAft>
              <a:buNone/>
            </a:pPr>
            <a:r>
              <a:rPr lang="en-US" sz="1200" dirty="0">
                <a:solidFill>
                  <a:srgbClr val="3A3A3A"/>
                </a:solidFill>
                <a:latin typeface="Arial" pitchFamily="34" charset="0"/>
                <a:ea typeface="Arial" pitchFamily="34" charset="-122"/>
                <a:cs typeface="Arial" pitchFamily="34" charset="-120"/>
              </a:rPr>
              <a:t>You have the frameworks. You have the sprint plan. You have the diagnostic tools and the operating model. The only question left is whether you start this week or wait until the next reorg forces it on you. Start with the Product Judgment Stack diagnostic. Score your team. Be honest. Share it with one peer you trust. That's day one. The rest follows.</a:t>
            </a:r>
            <a:endParaRPr lang="en-US" sz="1200" dirty="0"/>
          </a:p>
        </p:txBody>
      </p:sp>
      <p:sp>
        <p:nvSpPr>
          <p:cNvPr id="3" name="Text 1"/>
          <p:cNvSpPr/>
          <p:nvPr/>
        </p:nvSpPr>
        <p:spPr>
          <a:xfrm>
            <a:off x="731520" y="4434840"/>
            <a:ext cx="7680960" cy="274320"/>
          </a:xfrm>
          <a:prstGeom prst="rect">
            <a:avLst/>
          </a:prstGeom>
          <a:noFill/>
          <a:ln/>
        </p:spPr>
        <p:txBody>
          <a:bodyPr wrap="square" rtlCol="0" anchor="ctr"/>
          <a:lstStyle/>
          <a:p>
            <a:pPr indent="0" marL="0">
              <a:buNone/>
            </a:pPr>
            <a:r>
              <a:rPr lang="en-US" sz="650" i="1" dirty="0">
                <a:solidFill>
                  <a:srgbClr val="999999"/>
                </a:solidFill>
                <a:latin typeface="Arial" pitchFamily="34" charset="0"/>
                <a:ea typeface="Arial" pitchFamily="34" charset="-122"/>
                <a:cs typeface="Arial" pitchFamily="34" charset="-120"/>
              </a:rPr>
              <a:t>Source: Leverage Strategies analysis, 2026</a:t>
            </a:r>
            <a:endParaRPr lang="en-US" sz="6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731520" y="457200"/>
            <a:ext cx="7680960" cy="3931920"/>
          </a:xfrm>
          <a:prstGeom prst="rect">
            <a:avLst/>
          </a:prstGeom>
          <a:noFill/>
          <a:ln/>
        </p:spPr>
        <p:txBody>
          <a:bodyPr wrap="square" rtlCol="0" anchor="ctr"/>
          <a:lstStyle/>
          <a:p>
            <a:pPr indent="0" marL="0">
              <a:lnSpc>
                <a:spcPct val="115000"/>
              </a:lnSpc>
              <a:buNone/>
            </a:pPr>
            <a:r>
              <a:rPr lang="en-US" sz="2400" b="1" i="1" dirty="0">
                <a:solidFill>
                  <a:srgbClr val="FFFFFF"/>
                </a:solidFill>
                <a:latin typeface="Georgia" pitchFamily="34" charset="0"/>
                <a:ea typeface="Georgia" pitchFamily="34" charset="-122"/>
                <a:cs typeface="Georgia" pitchFamily="34" charset="-120"/>
              </a:rPr>
              <a:t>You have the frameworks. You have the sprint plan. The only question left is whether you start this week or wait until the next reorg forces it on you.</a:t>
            </a:r>
            <a:endParaRPr lang="en-US" sz="2400" dirty="0"/>
          </a:p>
        </p:txBody>
      </p:sp>
      <p:sp>
        <p:nvSpPr>
          <p:cNvPr id="3" name="Text 1"/>
          <p:cNvSpPr/>
          <p:nvPr/>
        </p:nvSpPr>
        <p:spPr>
          <a:xfrm>
            <a:off x="731520" y="3657600"/>
            <a:ext cx="7315200" cy="365760"/>
          </a:xfrm>
          <a:prstGeom prst="rect">
            <a:avLst/>
          </a:prstGeom>
          <a:noFill/>
          <a:ln/>
        </p:spPr>
        <p:txBody>
          <a:bodyPr wrap="square" rtlCol="0" anchor="ctr"/>
          <a:lstStyle/>
          <a:p>
            <a:pPr indent="0" marL="0">
              <a:buNone/>
            </a:pPr>
            <a:r>
              <a:rPr lang="en-US" sz="1300" dirty="0">
                <a:solidFill>
                  <a:srgbClr val="999999"/>
                </a:solidFill>
                <a:latin typeface="Arial" pitchFamily="34" charset="0"/>
                <a:ea typeface="Arial" pitchFamily="34" charset="-122"/>
                <a:cs typeface="Arial" pitchFamily="34" charset="-120"/>
              </a:rPr>
              <a:t>The PM's New Job. Leverage Strategies</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731520" y="1371600"/>
            <a:ext cx="7680960" cy="914400"/>
          </a:xfrm>
          <a:prstGeom prst="rect">
            <a:avLst/>
          </a:prstGeom>
          <a:noFill/>
          <a:ln/>
        </p:spPr>
        <p:txBody>
          <a:bodyPr wrap="square" rtlCol="0" anchor="ctr"/>
          <a:lstStyle/>
          <a:p>
            <a:pPr algn="ctr" indent="0" marL="0">
              <a:buNone/>
            </a:pPr>
            <a:r>
              <a:rPr lang="en-US" sz="3400" b="1" dirty="0">
                <a:solidFill>
                  <a:srgbClr val="FFFFFF"/>
                </a:solidFill>
                <a:latin typeface="Georgia" pitchFamily="34" charset="0"/>
                <a:ea typeface="Georgia" pitchFamily="34" charset="-122"/>
                <a:cs typeface="Georgia" pitchFamily="34" charset="-120"/>
              </a:rPr>
              <a:t>Leverage Strategies</a:t>
            </a:r>
            <a:endParaRPr lang="en-US" sz="3400" dirty="0"/>
          </a:p>
        </p:txBody>
      </p:sp>
      <p:sp>
        <p:nvSpPr>
          <p:cNvPr id="3" name="Shape 1"/>
          <p:cNvSpPr/>
          <p:nvPr/>
        </p:nvSpPr>
        <p:spPr>
          <a:xfrm>
            <a:off x="3657600" y="2377440"/>
            <a:ext cx="1828800" cy="9144"/>
          </a:xfrm>
          <a:prstGeom prst="rect">
            <a:avLst/>
          </a:prstGeom>
          <a:solidFill>
            <a:srgbClr val="9B8EC4"/>
          </a:solidFill>
          <a:ln/>
        </p:spPr>
        <p:txBody>
          <a:bodyPr/>
          <a:p/>
        </p:txBody>
      </p:sp>
      <p:sp>
        <p:nvSpPr>
          <p:cNvPr id="4" name="Text 2"/>
          <p:cNvSpPr/>
          <p:nvPr/>
        </p:nvSpPr>
        <p:spPr>
          <a:xfrm>
            <a:off x="731520" y="2560320"/>
            <a:ext cx="7680960" cy="457200"/>
          </a:xfrm>
          <a:prstGeom prst="rect">
            <a:avLst/>
          </a:prstGeom>
          <a:noFill/>
          <a:ln/>
        </p:spPr>
        <p:txBody>
          <a:bodyPr wrap="square" rtlCol="0" anchor="ctr"/>
          <a:lstStyle/>
          <a:p>
            <a:pPr algn="ctr" indent="0" marL="0">
              <a:buNone/>
            </a:pPr>
            <a:r>
              <a:rPr lang="en-US" sz="1500" dirty="0">
                <a:solidFill>
                  <a:srgbClr val="9B8EC4"/>
                </a:solidFill>
                <a:latin typeface="Arial" pitchFamily="34" charset="0"/>
                <a:ea typeface="Arial" pitchFamily="34" charset="-122"/>
                <a:cs typeface="Arial" pitchFamily="34" charset="-120"/>
              </a:rPr>
              <a:t>Systems That Scale You</a:t>
            </a:r>
            <a:endParaRPr lang="en-US" sz="1500" dirty="0"/>
          </a:p>
        </p:txBody>
      </p:sp>
      <p:sp>
        <p:nvSpPr>
          <p:cNvPr id="5" name="Text 3"/>
          <p:cNvSpPr/>
          <p:nvPr/>
        </p:nvSpPr>
        <p:spPr>
          <a:xfrm>
            <a:off x="731520" y="3108960"/>
            <a:ext cx="7680960" cy="365760"/>
          </a:xfrm>
          <a:prstGeom prst="rect">
            <a:avLst/>
          </a:prstGeom>
          <a:noFill/>
          <a:ln/>
        </p:spPr>
        <p:txBody>
          <a:bodyPr wrap="square" rtlCol="0" anchor="ctr"/>
          <a:lstStyle/>
          <a:p>
            <a:pPr algn="ctr" indent="0" marL="0">
              <a:buNone/>
            </a:pPr>
            <a:r>
              <a:rPr lang="en-US" sz="1300" dirty="0">
                <a:solidFill>
                  <a:srgbClr val="999999"/>
                </a:solidFill>
                <a:latin typeface="Arial" pitchFamily="34" charset="0"/>
                <a:ea typeface="Arial" pitchFamily="34" charset="-122"/>
                <a:cs typeface="Arial" pitchFamily="34" charset="-120"/>
              </a:rPr>
              <a:t>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PM's New Job</dc:title>
  <dc:subject>PptxGenJS Presentation</dc:subject>
  <dc:creator>Dan Albasry</dc:creator>
  <cp:lastModifiedBy>Dan Albasry</cp:lastModifiedBy>
  <cp:revision>1</cp:revision>
  <dcterms:created xsi:type="dcterms:W3CDTF">2026-02-18T17:08:59Z</dcterms:created>
  <dcterms:modified xsi:type="dcterms:W3CDTF">2026-02-18T17:08:59Z</dcterms:modified>
</cp:coreProperties>
</file>